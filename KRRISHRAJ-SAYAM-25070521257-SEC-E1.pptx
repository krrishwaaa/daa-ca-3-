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283287"/>
            <a:ext cx="5689458" cy="2797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b="1" spc="-108" kern="100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Master’s Theorem in DAA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4185841"/>
            <a:ext cx="5689458" cy="151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Subject: Design and Analysis of Algorithms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Presented by: Krrishraj Sayam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PRN: 25070521257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Division/Batch: E1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70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Introduction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35113"/>
            <a:ext cx="482588" cy="482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2169414"/>
            <a:ext cx="5257668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Master’s Theorem is used to find the time complexity of recursive algorithms.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1535113"/>
            <a:ext cx="482588" cy="482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24442" y="2169414"/>
            <a:ext cx="5257668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It is mainly applied to the Divide and Conquer technique.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280569"/>
            <a:ext cx="482588" cy="482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9585" y="3914870"/>
            <a:ext cx="5257668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It simplifies recurrence relations without solving them completely.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3280569"/>
            <a:ext cx="482588" cy="482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24442" y="3914870"/>
            <a:ext cx="5257668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Examples: Merge Sort and Binary Search.</a:t>
            </a:r>
            <a:endParaRPr lang="en-US" sz="1900" dirty="0"/>
          </a:p>
        </p:txBody>
      </p:sp>
      <p:sp>
        <p:nvSpPr>
          <p:cNvPr id="11" name="Shape 5"/>
          <p:cNvSpPr/>
          <p:nvPr/>
        </p:nvSpPr>
        <p:spPr>
          <a:xfrm>
            <a:off x="6089498" y="1535113"/>
            <a:ext cx="12700" cy="1516856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2" name="Shape 6"/>
          <p:cNvSpPr/>
          <p:nvPr/>
        </p:nvSpPr>
        <p:spPr>
          <a:xfrm>
            <a:off x="609585" y="3045619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3" name="Shape 7"/>
          <p:cNvSpPr/>
          <p:nvPr/>
        </p:nvSpPr>
        <p:spPr>
          <a:xfrm>
            <a:off x="6089498" y="3051969"/>
            <a:ext cx="12700" cy="1516856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4" name="Shape 8"/>
          <p:cNvSpPr/>
          <p:nvPr/>
        </p:nvSpPr>
        <p:spPr>
          <a:xfrm>
            <a:off x="6095848" y="3045619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70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Divide and Conquer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47114"/>
            <a:ext cx="10972526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Divide and Conquer is an algorithm technique that breaks a large problem into smaller subproblems.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585" y="2353469"/>
            <a:ext cx="88570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09585" y="2691309"/>
            <a:ext cx="3454314" cy="1905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868242"/>
            <a:ext cx="3454314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Divide the problem into smaller parts.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68691" y="2353469"/>
            <a:ext cx="88570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68691" y="2691309"/>
            <a:ext cx="3454314" cy="1905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9" name="Text 7"/>
          <p:cNvSpPr/>
          <p:nvPr/>
        </p:nvSpPr>
        <p:spPr>
          <a:xfrm>
            <a:off x="4368691" y="2868242"/>
            <a:ext cx="3454314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Conquer by solving each part recursively.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7797" y="2353469"/>
            <a:ext cx="88570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03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27797" y="2691309"/>
            <a:ext cx="3454314" cy="1905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12" name="Text 10"/>
          <p:cNvSpPr/>
          <p:nvPr/>
        </p:nvSpPr>
        <p:spPr>
          <a:xfrm>
            <a:off x="8127797" y="2868242"/>
            <a:ext cx="3454314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Combine the solutions to get the final result.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585" y="3618802"/>
            <a:ext cx="1158211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Examples: Merge Sort, Binary Search.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02712" cy="6858000"/>
          </a:xfrm>
          <a:prstGeom prst="rect">
            <a:avLst/>
          </a:prstGeom>
          <a:solidFill>
            <a:srgbClr val="3E4A4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009544"/>
            <a:ext cx="3083542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Recurrence Relation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199602"/>
            <a:ext cx="3083542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The standard form of Master’s Theorem is: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069457"/>
            <a:ext cx="3083542" cy="826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69386" y="622723"/>
            <a:ext cx="2877768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T(n)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69386" y="1092692"/>
            <a:ext cx="3106362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Total running time.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704342" y="622723"/>
            <a:ext cx="2877768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704342" y="1092692"/>
            <a:ext cx="2877768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Number of subproblems.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369386" y="1883992"/>
            <a:ext cx="2877768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b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369386" y="2353961"/>
            <a:ext cx="2877768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Factor by which input size is reduced.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704342" y="1883992"/>
            <a:ext cx="2877768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f(n)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704342" y="2353961"/>
            <a:ext cx="2877768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Non-recursive work, such as dividing and combining.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369386" y="3530695"/>
            <a:ext cx="6822309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Example: Merge Sort: T(n) = 2T(n/2) + n.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469398" y="609600"/>
            <a:ext cx="12700" cy="1032669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6" name="Shape 13"/>
          <p:cNvSpPr/>
          <p:nvPr/>
        </p:nvSpPr>
        <p:spPr>
          <a:xfrm>
            <a:off x="5369386" y="1635919"/>
            <a:ext cx="3106362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7" name="Shape 14"/>
          <p:cNvSpPr/>
          <p:nvPr/>
        </p:nvSpPr>
        <p:spPr>
          <a:xfrm>
            <a:off x="8469398" y="1642269"/>
            <a:ext cx="12700" cy="1698625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8" name="Shape 15"/>
          <p:cNvSpPr/>
          <p:nvPr/>
        </p:nvSpPr>
        <p:spPr>
          <a:xfrm>
            <a:off x="8475748" y="1635919"/>
            <a:ext cx="3106362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70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Three Cases of Master’s Theorem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1535113"/>
            <a:ext cx="10972526" cy="1815802"/>
          </a:xfrm>
          <a:custGeom>
            <a:avLst/>
            <a:gdLst/>
            <a:ahLst/>
            <a:cxnLst/>
            <a:rect l="l" t="t" r="r" b="b"/>
            <a:pathLst>
              <a:path w="10972526" h="1815802">
                <a:moveTo>
                  <a:pt x="30162" y="0"/>
                </a:moveTo>
                <a:lnTo>
                  <a:pt x="10942364" y="0"/>
                </a:lnTo>
                <a:arcTo hR="30163" wR="30162" stAng="16200000" swAng="5400000"/>
                <a:lnTo>
                  <a:pt x="10972526" y="1815802"/>
                </a:lnTo>
                <a:lnTo>
                  <a:pt x="0" y="1815802"/>
                </a:lnTo>
                <a:lnTo>
                  <a:pt x="0" y="30163"/>
                </a:lnTo>
                <a:arcTo hR="30163" wR="30162" stAng="10800000" swAng="5400000"/>
                <a:close/>
              </a:path>
            </a:pathLst>
          </a:custGeom>
          <a:solidFill>
            <a:srgbClr val="3E4A44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775714"/>
            <a:ext cx="10743931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First, calculate the critical function: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236391"/>
            <a:ext cx="10515337" cy="4132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801338"/>
            <a:ext cx="10743931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Compare it with f(n).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09585" y="3595300"/>
            <a:ext cx="342891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Case 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09585" y="4122535"/>
            <a:ext cx="3428914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f(n) grows polynomially slower than the critical function.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495688" y="3595300"/>
            <a:ext cx="320032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Case 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495688" y="4122535"/>
            <a:ext cx="3200320" cy="133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f(n) has the same order as the critical function, possibly multiplied by a logarithmic factor.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153196" y="3595300"/>
            <a:ext cx="342891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Case 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153196" y="4122535"/>
            <a:ext cx="3428914" cy="133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f(n) grows polynomially faster than the critical function, subject to a regularity condition.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09585" y="3344565"/>
            <a:ext cx="3657509" cy="12700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14" name="Shape 11"/>
          <p:cNvSpPr/>
          <p:nvPr/>
        </p:nvSpPr>
        <p:spPr>
          <a:xfrm>
            <a:off x="4260743" y="3350915"/>
            <a:ext cx="12700" cy="2320131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15" name="Shape 12"/>
          <p:cNvSpPr/>
          <p:nvPr/>
        </p:nvSpPr>
        <p:spPr>
          <a:xfrm>
            <a:off x="4267093" y="3344565"/>
            <a:ext cx="3657509" cy="12700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16" name="Shape 13"/>
          <p:cNvSpPr/>
          <p:nvPr/>
        </p:nvSpPr>
        <p:spPr>
          <a:xfrm>
            <a:off x="7918252" y="3350915"/>
            <a:ext cx="12700" cy="2320131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17" name="Shape 14"/>
          <p:cNvSpPr/>
          <p:nvPr/>
        </p:nvSpPr>
        <p:spPr>
          <a:xfrm>
            <a:off x="7924602" y="3344565"/>
            <a:ext cx="3657509" cy="12700"/>
          </a:xfrm>
          <a:prstGeom prst="rect">
            <a:avLst/>
          </a:prstGeom>
          <a:solidFill>
            <a:srgbClr val="3A789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98267" cy="6858000"/>
          </a:xfrm>
          <a:prstGeom prst="rect">
            <a:avLst/>
          </a:prstGeom>
          <a:solidFill>
            <a:srgbClr val="3E4A4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762588"/>
            <a:ext cx="3279098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Case 1 — Recursive Work Dominates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928070"/>
            <a:ext cx="3279098" cy="12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Condition: f(n) = O(n^(log_b a − ε)), where ε &gt; 0.</a:t>
            </a:r>
            <a:endParaRPr lang="en-US" sz="1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Result: T(n) = Θ(n^(log_b a))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564941" y="621602"/>
            <a:ext cx="6626754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Example: T(n) = 4T(n/2) + 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564941" y="1432917"/>
            <a:ext cx="88570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93456" y="1399080"/>
            <a:ext cx="5588654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Here, a = 4, b = 2, and f(n) = 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564941" y="2705398"/>
            <a:ext cx="88570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93456" y="2671560"/>
            <a:ext cx="5588654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n^(log₂4) = n².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564941" y="3977878"/>
            <a:ext cx="88570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93456" y="3944041"/>
            <a:ext cx="5588654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Since n grows slower than n², Case 1 applies.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564941" y="4975920"/>
            <a:ext cx="6017169" cy="1272480"/>
          </a:xfrm>
          <a:custGeom>
            <a:avLst/>
            <a:gdLst/>
            <a:ahLst/>
            <a:cxnLst/>
            <a:rect l="l" t="t" r="r" b="b"/>
            <a:pathLst>
              <a:path w="6017169" h="1272480">
                <a:moveTo>
                  <a:pt x="0" y="0"/>
                </a:moveTo>
                <a:lnTo>
                  <a:pt x="6017169" y="0"/>
                </a:lnTo>
                <a:lnTo>
                  <a:pt x="6017169" y="1242318"/>
                </a:lnTo>
                <a:arcTo hR="30163" wR="30162" stAng="0" swAng="5400000"/>
                <a:lnTo>
                  <a:pt x="30162" y="1272480"/>
                </a:lnTo>
                <a:arcTo hR="30163" wR="30162" stAng="5400000" swAng="5400000"/>
                <a:lnTo>
                  <a:pt x="0" y="0"/>
                </a:lnTo>
                <a:close/>
              </a:path>
            </a:pathLst>
          </a:custGeom>
          <a:solidFill>
            <a:srgbClr val="3E4A44"/>
          </a:solidFill>
          <a:ln/>
        </p:spPr>
      </p:sp>
      <p:sp>
        <p:nvSpPr>
          <p:cNvPr id="13" name="Text 11"/>
          <p:cNvSpPr/>
          <p:nvPr/>
        </p:nvSpPr>
        <p:spPr>
          <a:xfrm>
            <a:off x="5793536" y="5250359"/>
            <a:ext cx="88570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22051" y="5216521"/>
            <a:ext cx="536006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Final complexity: Θ(n²)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564941" y="2424609"/>
            <a:ext cx="6017169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6" name="Shape 14"/>
          <p:cNvSpPr/>
          <p:nvPr/>
        </p:nvSpPr>
        <p:spPr>
          <a:xfrm>
            <a:off x="5564941" y="3697089"/>
            <a:ext cx="6017169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564941" y="4969570"/>
            <a:ext cx="6017169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98267" cy="6858000"/>
          </a:xfrm>
          <a:prstGeom prst="rect">
            <a:avLst/>
          </a:prstGeom>
          <a:solidFill>
            <a:srgbClr val="3E4A4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842956"/>
            <a:ext cx="3279098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Case 2 — Balanced 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514725"/>
            <a:ext cx="3279098" cy="1547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Condition: f(n) = Θ(n^(log_b a) log^k n), where k ≥ 0.</a:t>
            </a:r>
            <a:endParaRPr lang="en-US" sz="1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Result: T(n) = Θ(n^(log_b a) log^(k+1) n)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564941" y="609600"/>
            <a:ext cx="6017169" cy="88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Example: Merge Sort</a:t>
            </a:r>
            <a:endParaRPr lang="en-US" sz="1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T(n) = 2T(n/2) + 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564941" y="1947958"/>
            <a:ext cx="6017169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Here, a = 2, b = 2, and the critical function is n^(log₂2) = 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564941" y="3683591"/>
            <a:ext cx="6017169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Both functions have the same order.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564941" y="4845645"/>
            <a:ext cx="6017169" cy="1402755"/>
          </a:xfrm>
          <a:custGeom>
            <a:avLst/>
            <a:gdLst/>
            <a:ahLst/>
            <a:cxnLst/>
            <a:rect l="l" t="t" r="r" b="b"/>
            <a:pathLst>
              <a:path w="6017169" h="1402755">
                <a:moveTo>
                  <a:pt x="0" y="0"/>
                </a:moveTo>
                <a:lnTo>
                  <a:pt x="6017169" y="0"/>
                </a:lnTo>
                <a:lnTo>
                  <a:pt x="6017169" y="1372592"/>
                </a:lnTo>
                <a:arcTo hR="30163" wR="30162" stAng="0" swAng="5400000"/>
                <a:lnTo>
                  <a:pt x="30162" y="1402755"/>
                </a:lnTo>
                <a:arcTo hR="30163" wR="30162" stAng="5400000" swAng="5400000"/>
                <a:lnTo>
                  <a:pt x="0" y="0"/>
                </a:lnTo>
                <a:close/>
              </a:path>
            </a:pathLst>
          </a:custGeom>
          <a:solidFill>
            <a:srgbClr val="F4B23E"/>
          </a:solidFill>
          <a:ln/>
        </p:spPr>
      </p:sp>
      <p:sp>
        <p:nvSpPr>
          <p:cNvPr id="9" name="Text 7"/>
          <p:cNvSpPr/>
          <p:nvPr/>
        </p:nvSpPr>
        <p:spPr>
          <a:xfrm>
            <a:off x="5793536" y="5086247"/>
            <a:ext cx="5788575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Final complexity: Θ(n log n)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564941" y="3436640"/>
            <a:ext cx="6017169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1" name="Shape 9"/>
          <p:cNvSpPr/>
          <p:nvPr/>
        </p:nvSpPr>
        <p:spPr>
          <a:xfrm>
            <a:off x="5564941" y="4839295"/>
            <a:ext cx="6017169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98267" cy="6858000"/>
          </a:xfrm>
          <a:prstGeom prst="rect">
            <a:avLst/>
          </a:prstGeom>
          <a:solidFill>
            <a:srgbClr val="3E4A4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596099"/>
            <a:ext cx="3279098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Case 3 — Non-Recursive Work Dominates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761581"/>
            <a:ext cx="3279098" cy="1547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Condition: f(n) = Ω(n^(log_b a + ε)), where ε &gt; 0, along with the regularity condition.</a:t>
            </a:r>
            <a:endParaRPr lang="en-US" sz="1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Result: T(n) = Θ(f(n))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564941" y="621602"/>
            <a:ext cx="6626754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Example: T(n) = 2T(n/2) + n²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564941" y="1432917"/>
            <a:ext cx="88570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93456" y="1399080"/>
            <a:ext cx="5588654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The critical function is n^(log₂2) = 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564941" y="3129558"/>
            <a:ext cx="88570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93456" y="3095720"/>
            <a:ext cx="5588654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Since n² grows faster than n, Case 3 applies.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564941" y="4551759"/>
            <a:ext cx="6017169" cy="1696641"/>
          </a:xfrm>
          <a:custGeom>
            <a:avLst/>
            <a:gdLst/>
            <a:ahLst/>
            <a:cxnLst/>
            <a:rect l="l" t="t" r="r" b="b"/>
            <a:pathLst>
              <a:path w="6017169" h="1696641">
                <a:moveTo>
                  <a:pt x="0" y="0"/>
                </a:moveTo>
                <a:lnTo>
                  <a:pt x="6017169" y="0"/>
                </a:lnTo>
                <a:lnTo>
                  <a:pt x="6017169" y="1666478"/>
                </a:lnTo>
                <a:arcTo hR="30163" wR="30162" stAng="0" swAng="5400000"/>
                <a:lnTo>
                  <a:pt x="30162" y="1696641"/>
                </a:lnTo>
                <a:arcTo hR="30163" wR="30162" stAng="5400000" swAng="5400000"/>
                <a:lnTo>
                  <a:pt x="0" y="0"/>
                </a:lnTo>
                <a:close/>
              </a:path>
            </a:pathLst>
          </a:custGeom>
          <a:solidFill>
            <a:srgbClr val="111A20"/>
          </a:solidFill>
          <a:ln/>
        </p:spPr>
      </p:sp>
      <p:sp>
        <p:nvSpPr>
          <p:cNvPr id="11" name="Text 9"/>
          <p:cNvSpPr/>
          <p:nvPr/>
        </p:nvSpPr>
        <p:spPr>
          <a:xfrm>
            <a:off x="5793536" y="4826198"/>
            <a:ext cx="88570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22051" y="4792361"/>
            <a:ext cx="536006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Final complexity: Θ(n²)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564941" y="2848769"/>
            <a:ext cx="6017169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564941" y="4545409"/>
            <a:ext cx="6017169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7093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Applications, Advantages and Limitations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50897"/>
            <a:ext cx="342891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Applications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585" y="2066131"/>
            <a:ext cx="3428914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Merge Sort: Θ(n log n)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Binary Search: Θ(log n)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Strassen’s Matrix Multiplication: Θ(n^2.807 approximately)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495688" y="1550897"/>
            <a:ext cx="320032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Advantages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495688" y="2066131"/>
            <a:ext cx="3200320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Simplifies recurrence relations.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Saves calculation time.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Helps compare algorithm efficiency.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53196" y="1550897"/>
            <a:ext cx="342891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Limitations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53196" y="2066131"/>
            <a:ext cx="3428914" cy="2451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Works only for suitable recurrence relations.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Does not directly solve every recursive problem.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Other methods may be needed for irregular recurrences.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260743" y="1535113"/>
            <a:ext cx="12700" cy="2982516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0" name="Shape 8"/>
          <p:cNvSpPr/>
          <p:nvPr/>
        </p:nvSpPr>
        <p:spPr>
          <a:xfrm>
            <a:off x="7918252" y="1535113"/>
            <a:ext cx="12700" cy="2982516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5032" cy="685800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880336"/>
            <a:ext cx="3865863" cy="72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84" kern="100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Conclusion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09585" y="3751457"/>
            <a:ext cx="4475447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Thank You!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151706" y="2006600"/>
            <a:ext cx="5430404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Master’s Theorem is an important tool in DAA.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It helps analyze the time complexity of divide-and-conquer algorithms.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Its three cases depend on comparing f(n) with n^(log_b a).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It helps us understand algorithm performance as input size increases.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2026-10-22T06:00:35Z</dcterms:created>
  <dcterms:modified xsi:type="dcterms:W3CDTF">2026-10-22T06:00:35Z</dcterms:modified>
</cp:coreProperties>
</file>